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0728655" cy="54864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10728655" cy="4206240"/>
          </a:xfrm>
          <a:prstGeom prst="roundRect">
            <a:avLst/>
          </a:prstGeom>
          <a:solidFill>
            <a:srgbClr val="151F32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73152" cy="420624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371600"/>
            <a:ext cx="9784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PPKD JAKARTA PUSAT • PELATIHAN MOBILE APP DEVELOPMENT • FLUTTER DART</a:t>
            </a:r>
          </a:p>
          <a:p>
            <a:pPr>
              <a:spcBef>
                <a:spcPts val="1400"/>
              </a:spcBef>
              <a:spcAft>
                <a:spcPts val="14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Laporan Pengujian Otomasi &amp;</a:t>
            </a:r>
            <a:br/>
            <a:r>
              <a:t>Arsitektur Aplikasi Absensi PPKD</a:t>
            </a:r>
          </a:p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Verifikasi Menyeluruh Fungsional Presensi (Masuk, Pulang, Izin, Delete) &amp; Geolocation pada Pixel 6a</a:t>
            </a:r>
          </a:p>
          <a:p>
            <a:pPr>
              <a:spcBef>
                <a:spcPts val="1600"/>
              </a:spcBef>
              <a:defRPr sz="1200" b="1">
                <a:solidFill>
                  <a:srgbClr val="34D399"/>
                </a:solidFill>
                <a:latin typeface="Segoe UI"/>
              </a:defRPr>
            </a:pPr>
            <a:r>
              <a:t>Disusun oleh: Ridho Dibaja Tawang • Batch 2026 • Status: 100% Verified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32120"/>
            <a:ext cx="2542032" cy="8686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5532120"/>
            <a:ext cx="73152" cy="8686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5660136"/>
            <a:ext cx="2267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DEVICE TARGET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emulator-5556 (Pixel 6a)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5532120"/>
            <a:ext cx="2542032" cy="8686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56432" y="5532120"/>
            <a:ext cx="73152" cy="86868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9312" y="5660136"/>
            <a:ext cx="2267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PACKAGE NAME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com.example.pelatihan_app_dev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5532120"/>
            <a:ext cx="2542032" cy="8686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81344" y="5532120"/>
            <a:ext cx="73152" cy="8686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5660136"/>
            <a:ext cx="2267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TECH STACK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Flutter 3.x / OpenJDK 17 / 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5532120"/>
            <a:ext cx="2542032" cy="8686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906256" y="5532120"/>
            <a:ext cx="73152" cy="8686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89136" y="5660136"/>
            <a:ext cx="226771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94A3B8"/>
                </a:solidFill>
                <a:latin typeface="Segoe UI"/>
              </a:defRPr>
            </a:pPr>
            <a:r>
              <a:t>QA STATUS</a:t>
            </a:r>
          </a:p>
          <a:p>
            <a:pPr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10/10 MODULES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3354019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FASE 01 • BUILD ENGINE &amp; DIAGNOSTICS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Analisis Root Cause &amp; Remediasi Startup Crash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02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52120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73152" cy="52120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291693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  <a:latin typeface="Segoe UI"/>
              </a:defRPr>
            </a:pPr>
            <a:r>
              <a:t>DIAGNOSA ROOT CAUSE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Kerusakan Native Transforms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Gejala Fatal Crash: </a:t>
            </a:r>
            <a:r>
              <a:rPr b="0">
                <a:solidFill>
                  <a:srgbClr val="94A3B8"/>
                </a:solidFill>
              </a:rPr>
              <a:t>Aplikasi mengalami termination seketika saat diluncurkan (FATAL EXCEPTION: main).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Penyebab Kontaminasi: </a:t>
            </a:r>
            <a:r>
              <a:rPr b="0">
                <a:solidFill>
                  <a:srgbClr val="94A3B8"/>
                </a:solidFill>
              </a:rPr>
              <a:t>Cache Gradle (~/.gradle/caches/8.14/transforms) tercemar oleh artefak project sibling 'family_guard'.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Injeksi DEX Asing: </a:t>
            </a:r>
            <a:r>
              <a:rPr b="0">
                <a:solidFill>
                  <a:srgbClr val="94A3B8"/>
                </a:solidFill>
              </a:rPr>
              <a:t>Binary loader memuat libguard.so menggantikan libflutter.so, merusak FlutterActivity embedding.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Metode Deteksi: </a:t>
            </a:r>
            <a:r>
              <a:rPr b="0">
                <a:solidFill>
                  <a:srgbClr val="94A3B8"/>
                </a:solidFill>
              </a:rPr>
              <a:t>Analisis dump manifest classes.dex membuktikan adanya signature package security yang tidak terdaftar.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280160"/>
            <a:ext cx="3328416" cy="52120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25696" y="1280160"/>
            <a:ext cx="73152" cy="52120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1463040"/>
            <a:ext cx="291693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Segoe UI"/>
              </a:defRPr>
            </a:pPr>
            <a:r>
              <a:t>LANGKAH REMEDIASI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Pembersihan &amp; Build Bersih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Flush Cache Transform: </a:t>
            </a:r>
            <a:r>
              <a:rPr b="0">
                <a:solidFill>
                  <a:srgbClr val="94A3B8"/>
                </a:solidFill>
              </a:rPr>
              <a:t>Menghapus direktori ~/.gradle/caches/8.14/transforms dan 9.3.1/transforms secara menyeluruh.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Rollback build.gradle.kts: </a:t>
            </a:r>
            <a:r>
              <a:rPr b="0">
                <a:solidFill>
                  <a:srgbClr val="94A3B8"/>
                </a:solidFill>
              </a:rPr>
              <a:t>Menghilangkan script injeksi custom packagingOptions yang membatasi lib bawaan.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Pembersihan Flutter Clean: </a:t>
            </a:r>
            <a:r>
              <a:rPr b="0">
                <a:solidFill>
                  <a:srgbClr val="94A3B8"/>
                </a:solidFill>
              </a:rPr>
              <a:t>Mengeksekusi flutter clean dan mereset direktori android/.gradle secara higienis.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Verifikasi Dump DEX: </a:t>
            </a:r>
            <a:r>
              <a:rPr b="0">
                <a:solidFill>
                  <a:srgbClr val="94A3B8"/>
                </a:solidFill>
              </a:rPr>
              <a:t>Kompilasi ulang APK debug dan memastikan 0 referensi library asing pada binary final.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280160"/>
            <a:ext cx="3328416" cy="52120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19872" y="1280160"/>
            <a:ext cx="73152" cy="52120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463040"/>
            <a:ext cx="291693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KOMPATIBILITAS RUNTIME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Gradle 8.14 &amp; JDK 17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Java Runtime SDK: </a:t>
            </a:r>
            <a:r>
              <a:rPr b="0">
                <a:solidFill>
                  <a:srgbClr val="94A3B8"/>
                </a:solidFill>
              </a:rPr>
              <a:t>Gradle Daemon dijalankan penuh menggunakan OpenJDK 17 (Microsoft Build 17.0.12+7).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Bytecode Target 11: </a:t>
            </a:r>
            <a:r>
              <a:rPr b="0">
                <a:solidFill>
                  <a:srgbClr val="94A3B8"/>
                </a:solidFill>
              </a:rPr>
              <a:t>Target kompilasi Java 11 dipertahankan demi kompatibilitas optimal runtime Android DEX.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Konfigurasi ADB: </a:t>
            </a:r>
            <a:r>
              <a:rPr b="0">
                <a:solidFill>
                  <a:srgbClr val="94A3B8"/>
                </a:solidFill>
              </a:rPr>
              <a:t>Sinkronisasi port forward dan adb pairing pada device target emulator-5556 (Pixel 6a).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▸ Hasil Akhir: </a:t>
            </a:r>
            <a:r>
              <a:rPr b="0">
                <a:solidFill>
                  <a:srgbClr val="94A3B8"/>
                </a:solidFill>
              </a:rPr>
              <a:t>Aplikasi terinstal mulus, startup stabil di bawah 1.2 detik, dan bebas dari error crash.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3032150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ARSITEKTUR SISTEM • CORE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Modularitas Komponen &amp; Integrasi Tugas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03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184648" cy="24688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73152" cy="24688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444752"/>
            <a:ext cx="472744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Segoe UI"/>
              </a:defRPr>
            </a:pPr>
            <a:r>
              <a:t>01. REST API CLIENT (DIO ENGINE)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Komunikasi Data &amp; Interceptors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Dio Client Instance: </a:t>
            </a:r>
            <a:r>
              <a:rPr b="0">
                <a:solidFill>
                  <a:srgbClr val="94A3B8"/>
                </a:solidFill>
              </a:rPr>
              <a:t>Base URL absensib1.mobileprojp.com/api dengan timeout 20s.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Dynamic Interceptors: </a:t>
            </a:r>
            <a:r>
              <a:rPr b="0">
                <a:solidFill>
                  <a:srgbClr val="94A3B8"/>
                </a:solidFill>
              </a:rPr>
              <a:t>Injeksi otomatis Bearer Token JWT pada Authorization header.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Global Error Handling: </a:t>
            </a:r>
            <a:r>
              <a:rPr b="0">
                <a:solidFill>
                  <a:srgbClr val="94A3B8"/>
                </a:solidFill>
              </a:rPr>
              <a:t>Translasi otomatis status HTTP 401 (Auto-Logout) &amp; 422 (Validasi).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Endpoints Lengkap: </a:t>
            </a:r>
            <a:r>
              <a:rPr b="0">
                <a:solidFill>
                  <a:srgbClr val="94A3B8"/>
                </a:solidFill>
              </a:rPr>
              <a:t>Tersedia /login, /register, /profile, /presensi/masuk, /pulang, &amp; /riwayat.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280160"/>
            <a:ext cx="5184648" cy="24688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72784" y="1280160"/>
            <a:ext cx="73152" cy="246888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1444752"/>
            <a:ext cx="4727448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02. GEOLOCATION &amp; GOOGLE MAPS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GPS Geofencing &amp; Reverse Geocoding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Geolocator High Accuracy: </a:t>
            </a:r>
            <a:r>
              <a:rPr b="0">
                <a:solidFill>
                  <a:srgbClr val="94A3B8"/>
                </a:solidFill>
              </a:rPr>
              <a:t>Pengambilan koordinat presisi tinggi (DesiredAccuracy.high).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Reverse Geocoding: </a:t>
            </a:r>
            <a:r>
              <a:rPr b="0">
                <a:solidFill>
                  <a:srgbClr val="94A3B8"/>
                </a:solidFill>
              </a:rPr>
              <a:t>Translasi otomatis titik GPS ke alamat jalan administratif (Monas).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Google Maps SDK: </a:t>
            </a:r>
            <a:r>
              <a:rPr b="0">
                <a:solidFill>
                  <a:srgbClr val="94A3B8"/>
                </a:solidFill>
              </a:rPr>
              <a:t>Peta mini dashboard interaktif &amp; mode inspeksi layar penuh.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Radius Verification: </a:t>
            </a:r>
            <a:r>
              <a:rPr b="0">
                <a:solidFill>
                  <a:srgbClr val="94A3B8"/>
                </a:solidFill>
              </a:rPr>
              <a:t>Validasi radius kehadiran dalam batas jangkauan koordinat kantor.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84648" cy="25603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73152" cy="25603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096512"/>
            <a:ext cx="472744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03. SESSION &amp; STORAGE PERSISTENCE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SharedPreferences &amp; Model Serialization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SessionManager Singleton: </a:t>
            </a:r>
            <a:r>
              <a:rPr b="0">
                <a:solidFill>
                  <a:srgbClr val="94A3B8"/>
                </a:solidFill>
              </a:rPr>
              <a:t>Penyimpanan token JWT dan payload UserModel terstruktur.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ThemeMode Persistence: </a:t>
            </a:r>
            <a:r>
              <a:rPr b="0">
                <a:solidFill>
                  <a:srgbClr val="94A3B8"/>
                </a:solidFill>
              </a:rPr>
              <a:t>Menyimpan state Dark Mode (true/false) antar-sesi aplikasi.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Fast Auto-Login: </a:t>
            </a:r>
            <a:r>
              <a:rPr b="0">
                <a:solidFill>
                  <a:srgbClr val="94A3B8"/>
                </a:solidFill>
              </a:rPr>
              <a:t>Deteksi instan token tersimpan saat aplikasi pertama kali dimuat.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Clear Sesi Terisolasi: </a:t>
            </a:r>
            <a:r>
              <a:rPr b="0">
                <a:solidFill>
                  <a:srgbClr val="94A3B8"/>
                </a:solidFill>
              </a:rPr>
              <a:t>Pembersihan total storage lokal saat peserta memilih Keluar Akun.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2784" y="3931920"/>
            <a:ext cx="5184648" cy="256032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72784" y="3931920"/>
            <a:ext cx="73152" cy="256032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01384" y="4096512"/>
            <a:ext cx="472744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04. MATERIAL 3 UI &amp; THEME ENGINE</a:t>
            </a:r>
          </a:p>
          <a:p>
            <a:pPr>
              <a:spcAft>
                <a:spcPts val="6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Stateful Theming &amp; Layout Responsif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Material 3 Theme Tokens: </a:t>
            </a:r>
            <a:r>
              <a:rPr b="0">
                <a:solidFill>
                  <a:srgbClr val="94A3B8"/>
                </a:solidFill>
              </a:rPr>
              <a:t>Dukungan penuh palet warna Light Mode &amp; Dark Slate (#0F172A).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Dynamic Theme Switch: </a:t>
            </a:r>
            <a:r>
              <a:rPr b="0">
                <a:solidFill>
                  <a:srgbClr val="94A3B8"/>
                </a:solidFill>
              </a:rPr>
              <a:t>Peralihan tema instan tanpa merestart lifecycle widget tree.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IndexedStack Navigation: </a:t>
            </a:r>
            <a:r>
              <a:rPr b="0">
                <a:solidFill>
                  <a:srgbClr val="94A3B8"/>
                </a:solidFill>
              </a:rPr>
              <a:t>State tab Dashboard, Riwayat, &amp; Profil tetap persisten saat berpindah.</a:t>
            </a:r>
          </a:p>
          <a:p>
            <a:pPr>
              <a:spcBef>
                <a:spcPts val="4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Adaptive Layout: </a:t>
            </a:r>
            <a:r>
              <a:rPr b="0">
                <a:solidFill>
                  <a:srgbClr val="94A3B8"/>
                </a:solidFill>
              </a:rPr>
              <a:t>Desain proporsional responsif optimal pada Google Pixel 6a (420 dpi).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3032150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AUTOMATED QA • MATRIKS PENGUJIAN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Hasil Verifikasi End-to-End pada Pixel 6a (emulator-5556)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04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234440"/>
          <a:ext cx="10728655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39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No.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Modul / Fitur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Aksi Otomasi ADB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Kriteria Keberhasilan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Artefak Verifikasi</a:t>
                      </a:r>
                    </a:p>
                  </a:txBody>
                  <a:tcPr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01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Autentikasi Login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Input email &amp; password peserta, trigger login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Token JWT diterima 200 OK &amp; auto-route Dashboard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01_auth_login.png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02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Dashboard &amp; GPS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Tap Dashboard, query GPS provider Monas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Koordinat ter-resolve ke Jl. Tugu Monas &amp; mini-map aktif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02_dashboard_presensi.png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03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Peta Google Maps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Tap 'Buka Peta Penuh' (MapDetailScreen)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Google Maps SDK render marker lokasi &amp; pin akurat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03_peta_detail_lokasi.png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04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Dialog Absen Masuk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Tap 'ABSEN MASUK' pada Dashboard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Modal konfirmasi muncul dengan rincian GPS lengkap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07_dialog_absen_masuk.png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05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Dialog Absen Pulang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Tap 'ABSEN PULANG' pada Dashboard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Modal konfirmasi jam pulang muncul dengan rincian GPS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08_dialog_absen_pulang.png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06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Pengajuan Izin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Tap 'Pengajuan Izin / Sakit Hari Ini'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Modal form input keterangan alasan izin aktif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09_dialog_pengajuan_izin.png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07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Riwayat Presensi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Tap Nav Item 'Riwayat' &amp; sync API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Daftar riwayat presensi muncul dengan kartu metriks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04_riwayat_absensi.png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08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Konfirmasi Hapus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Tap icon sampah merah pada item riwayat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Modal konfirmasi destruktif merah 'Hapus Absensi' aktif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10_dialog_delete_absen.png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09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Profil Mode Terang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Tap Nav Item 'Profil' (Light Mode)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Data peserta &amp; kartu counter profil tersaji rapi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05_profil_light.png</a:t>
                      </a:r>
                    </a:p>
                  </a:txBody>
                  <a:tcPr anchor="ctr">
                    <a:solidFill>
                      <a:srgbClr val="151F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14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Dynamic Dark Mode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Tap Switch ThemeMode ke Dark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Scaffold &amp; kartu bertransisi ke Slate 900 secara mulus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PASSED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8BDF8"/>
                          </a:solidFill>
                          <a:latin typeface="Consolas"/>
                        </a:defRPr>
                      </a:pPr>
                      <a:r>
                        <a:t>06_profil_dark.png</a:t>
                      </a:r>
                    </a:p>
                  </a:txBody>
                  <a:tcPr anchor="ctr">
                    <a:solidFill>
                      <a:srgbClr val="1A27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2951683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MODUL 01 • AUTENTIKASI PENGGUNA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Verifikasi Antarmuka: Formulir Masuk &amp; Validasi Sesi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05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8076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1_auth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2119122" cy="4709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8932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01_auth_login.png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73152" cy="24688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417320"/>
            <a:ext cx="7863840" cy="15465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Segoe UI"/>
              </a:defRPr>
            </a:pPr>
            <a:r>
              <a:rPr dirty="0"/>
              <a:t>SPESIFIKASI FORM MASUK &amp; INPUT VALIDATION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Komponen</a:t>
            </a:r>
            <a:r>
              <a:rPr dirty="0"/>
              <a:t> Form &amp; </a:t>
            </a:r>
            <a:r>
              <a:rPr dirty="0" err="1"/>
              <a:t>Keamanan</a:t>
            </a:r>
            <a:r>
              <a:rPr dirty="0"/>
              <a:t> </a:t>
            </a:r>
            <a:r>
              <a:rPr dirty="0" err="1"/>
              <a:t>Kredensial</a:t>
            </a:r>
            <a:endParaRPr dirty="0"/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rPr dirty="0"/>
              <a:t>• </a:t>
            </a:r>
            <a:r>
              <a:rPr dirty="0" err="1"/>
              <a:t>Validasi</a:t>
            </a:r>
            <a:r>
              <a:rPr dirty="0"/>
              <a:t> Email RFC: </a:t>
            </a:r>
            <a:r>
              <a:rPr b="0" dirty="0">
                <a:solidFill>
                  <a:srgbClr val="94A3B8"/>
                </a:solidFill>
              </a:rPr>
              <a:t>Input email </a:t>
            </a:r>
            <a:r>
              <a:rPr b="0" dirty="0" err="1">
                <a:solidFill>
                  <a:srgbClr val="94A3B8"/>
                </a:solidFill>
              </a:rPr>
              <a:t>diverifikasi</a:t>
            </a:r>
            <a:r>
              <a:rPr b="0" dirty="0">
                <a:solidFill>
                  <a:srgbClr val="94A3B8"/>
                </a:solidFill>
              </a:rPr>
              <a:t> </a:t>
            </a:r>
            <a:r>
              <a:rPr b="0" dirty="0" err="1">
                <a:solidFill>
                  <a:srgbClr val="94A3B8"/>
                </a:solidFill>
              </a:rPr>
              <a:t>dengan</a:t>
            </a:r>
            <a:r>
              <a:rPr b="0" dirty="0">
                <a:solidFill>
                  <a:srgbClr val="94A3B8"/>
                </a:solidFill>
              </a:rPr>
              <a:t> Regex </a:t>
            </a:r>
            <a:r>
              <a:rPr b="0" dirty="0" err="1">
                <a:solidFill>
                  <a:srgbClr val="94A3B8"/>
                </a:solidFill>
              </a:rPr>
              <a:t>standar</a:t>
            </a:r>
            <a:r>
              <a:rPr b="0" dirty="0">
                <a:solidFill>
                  <a:srgbClr val="94A3B8"/>
                </a:solidFill>
              </a:rPr>
              <a:t>. </a:t>
            </a:r>
            <a:r>
              <a:rPr b="0" dirty="0" err="1">
                <a:solidFill>
                  <a:srgbClr val="94A3B8"/>
                </a:solidFill>
              </a:rPr>
              <a:t>Menolak</a:t>
            </a:r>
            <a:r>
              <a:rPr b="0" dirty="0">
                <a:solidFill>
                  <a:srgbClr val="94A3B8"/>
                </a:solidFill>
              </a:rPr>
              <a:t> format </a:t>
            </a:r>
            <a:r>
              <a:rPr b="0" dirty="0" err="1">
                <a:solidFill>
                  <a:srgbClr val="94A3B8"/>
                </a:solidFill>
              </a:rPr>
              <a:t>kosong</a:t>
            </a:r>
            <a:r>
              <a:rPr b="0" dirty="0">
                <a:solidFill>
                  <a:srgbClr val="94A3B8"/>
                </a:solidFill>
              </a:rPr>
              <a:t> </a:t>
            </a:r>
            <a:r>
              <a:rPr b="0" dirty="0" err="1">
                <a:solidFill>
                  <a:srgbClr val="94A3B8"/>
                </a:solidFill>
              </a:rPr>
              <a:t>atau</a:t>
            </a:r>
            <a:r>
              <a:rPr b="0" dirty="0">
                <a:solidFill>
                  <a:srgbClr val="94A3B8"/>
                </a:solidFill>
              </a:rPr>
              <a:t> invalid </a:t>
            </a:r>
            <a:r>
              <a:rPr b="0" dirty="0" err="1">
                <a:solidFill>
                  <a:srgbClr val="94A3B8"/>
                </a:solidFill>
              </a:rPr>
              <a:t>sebelum</a:t>
            </a:r>
            <a:r>
              <a:rPr b="0" dirty="0">
                <a:solidFill>
                  <a:srgbClr val="94A3B8"/>
                </a:solidFill>
              </a:rPr>
              <a:t> request </a:t>
            </a:r>
            <a:r>
              <a:rPr b="0" dirty="0" err="1">
                <a:solidFill>
                  <a:srgbClr val="94A3B8"/>
                </a:solidFill>
              </a:rPr>
              <a:t>dikirim</a:t>
            </a:r>
            <a:r>
              <a:rPr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rPr dirty="0"/>
              <a:t>• Password Obscure Toggle: </a:t>
            </a:r>
            <a:r>
              <a:rPr b="0" dirty="0">
                <a:solidFill>
                  <a:srgbClr val="94A3B8"/>
                </a:solidFill>
              </a:rPr>
              <a:t>Field </a:t>
            </a:r>
            <a:r>
              <a:rPr b="0" dirty="0" err="1">
                <a:solidFill>
                  <a:srgbClr val="94A3B8"/>
                </a:solidFill>
              </a:rPr>
              <a:t>sandi</a:t>
            </a:r>
            <a:r>
              <a:rPr b="0" dirty="0">
                <a:solidFill>
                  <a:srgbClr val="94A3B8"/>
                </a:solidFill>
              </a:rPr>
              <a:t> </a:t>
            </a:r>
            <a:r>
              <a:rPr b="0" dirty="0" err="1">
                <a:solidFill>
                  <a:srgbClr val="94A3B8"/>
                </a:solidFill>
              </a:rPr>
              <a:t>terenkapsulasi</a:t>
            </a:r>
            <a:r>
              <a:rPr b="0" dirty="0">
                <a:solidFill>
                  <a:srgbClr val="94A3B8"/>
                </a:solidFill>
              </a:rPr>
              <a:t> </a:t>
            </a:r>
            <a:r>
              <a:rPr b="0" dirty="0" err="1">
                <a:solidFill>
                  <a:srgbClr val="94A3B8"/>
                </a:solidFill>
              </a:rPr>
              <a:t>dengan</a:t>
            </a:r>
            <a:r>
              <a:rPr b="0" dirty="0">
                <a:solidFill>
                  <a:srgbClr val="94A3B8"/>
                </a:solidFill>
              </a:rPr>
              <a:t> </a:t>
            </a:r>
            <a:r>
              <a:rPr b="0" dirty="0" err="1">
                <a:solidFill>
                  <a:srgbClr val="94A3B8"/>
                </a:solidFill>
              </a:rPr>
              <a:t>tombol</a:t>
            </a:r>
            <a:r>
              <a:rPr b="0" dirty="0">
                <a:solidFill>
                  <a:srgbClr val="94A3B8"/>
                </a:solidFill>
              </a:rPr>
              <a:t> </a:t>
            </a:r>
            <a:r>
              <a:rPr b="0" dirty="0" err="1">
                <a:solidFill>
                  <a:srgbClr val="94A3B8"/>
                </a:solidFill>
              </a:rPr>
              <a:t>visibilitas</a:t>
            </a:r>
            <a:r>
              <a:rPr b="0" dirty="0">
                <a:solidFill>
                  <a:srgbClr val="94A3B8"/>
                </a:solidFill>
              </a:rPr>
              <a:t> (show/hide password) yang </a:t>
            </a:r>
            <a:r>
              <a:rPr b="0" dirty="0" err="1">
                <a:solidFill>
                  <a:srgbClr val="94A3B8"/>
                </a:solidFill>
              </a:rPr>
              <a:t>responsif</a:t>
            </a:r>
            <a:r>
              <a:rPr b="0" dirty="0">
                <a:solidFill>
                  <a:srgbClr val="94A3B8"/>
                </a:solidFill>
              </a:rPr>
              <a:t>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rPr dirty="0"/>
              <a:t>• Aksi </a:t>
            </a:r>
            <a:r>
              <a:rPr dirty="0" err="1"/>
              <a:t>Otomasi</a:t>
            </a:r>
            <a:r>
              <a:rPr dirty="0"/>
              <a:t> ADB: </a:t>
            </a:r>
            <a:r>
              <a:rPr b="0" dirty="0" err="1">
                <a:solidFill>
                  <a:srgbClr val="94A3B8"/>
                </a:solidFill>
              </a:rPr>
              <a:t>Injeksi</a:t>
            </a:r>
            <a:r>
              <a:rPr b="0" dirty="0">
                <a:solidFill>
                  <a:srgbClr val="94A3B8"/>
                </a:solidFill>
              </a:rPr>
              <a:t> </a:t>
            </a:r>
            <a:r>
              <a:rPr b="0" dirty="0" err="1">
                <a:solidFill>
                  <a:srgbClr val="94A3B8"/>
                </a:solidFill>
              </a:rPr>
              <a:t>kredensial</a:t>
            </a:r>
            <a:r>
              <a:rPr b="0" dirty="0">
                <a:solidFill>
                  <a:srgbClr val="94A3B8"/>
                </a:solidFill>
              </a:rPr>
              <a:t> </a:t>
            </a:r>
            <a:r>
              <a:rPr b="0" dirty="0" err="1">
                <a:solidFill>
                  <a:srgbClr val="94A3B8"/>
                </a:solidFill>
              </a:rPr>
              <a:t>akun</a:t>
            </a:r>
            <a:r>
              <a:rPr b="0" dirty="0">
                <a:solidFill>
                  <a:srgbClr val="94A3B8"/>
                </a:solidFill>
              </a:rPr>
              <a:t> </a:t>
            </a:r>
            <a:r>
              <a:rPr b="0" dirty="0" err="1">
                <a:solidFill>
                  <a:srgbClr val="94A3B8"/>
                </a:solidFill>
              </a:rPr>
              <a:t>peserta</a:t>
            </a:r>
            <a:r>
              <a:rPr b="0" dirty="0">
                <a:solidFill>
                  <a:srgbClr val="94A3B8"/>
                </a:solidFill>
              </a:rPr>
              <a:t> lavenderpoet607@gmail.com dan </a:t>
            </a:r>
            <a:r>
              <a:rPr b="0" dirty="0" err="1">
                <a:solidFill>
                  <a:srgbClr val="94A3B8"/>
                </a:solidFill>
              </a:rPr>
              <a:t>sandi</a:t>
            </a:r>
            <a:r>
              <a:rPr b="0" dirty="0">
                <a:solidFill>
                  <a:srgbClr val="94A3B8"/>
                </a:solidFill>
              </a:rPr>
              <a:t> via escaping input '#Anaksoleh12'.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93192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1840" y="3931920"/>
            <a:ext cx="73152" cy="246888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406908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PENANGANAN RESPON API &amp; STATE SESSION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Penyimpanan Token JWT &amp; Transisi Navigasi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Respon HTTP 200 OK: </a:t>
            </a:r>
            <a:r>
              <a:rPr b="0">
                <a:solidFill>
                  <a:srgbClr val="94A3B8"/>
                </a:solidFill>
              </a:rPr>
              <a:t>Endpoint /login mengembalikan token autentikasi bearer beserta objek data peserta lengkap.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SessionManager Persistence: </a:t>
            </a:r>
            <a:r>
              <a:rPr b="0">
                <a:solidFill>
                  <a:srgbClr val="94A3B8"/>
                </a:solidFill>
              </a:rPr>
              <a:t>Token JWT disimpan secara aman di SharedPreferences lokal untuk menjamin auto-login.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Seamless Stack Navigation: </a:t>
            </a:r>
            <a:r>
              <a:rPr b="0">
                <a:solidFill>
                  <a:srgbClr val="94A3B8"/>
                </a:solidFill>
              </a:rPr>
              <a:t>Pengalihan rute menggunakan Navigator.pushReplacement mencegah user kembali ke login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2549347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MODUL 02 • DASHBOARD UTAMA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Verifikasi Antarmuka: Dashboard &amp; Pelacakan Lokasi GPS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06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8076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2_dashboard_presen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2119122" cy="4709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8932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02_dashboard_presensi.png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73152" cy="24688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41732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INTEGRASI GEOLOCATION &amp; REVERSE GEOCODING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Pelacakan Titik Koordinat Presisi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Penyedia Lokasi GPS: </a:t>
            </a:r>
            <a:r>
              <a:rPr b="0">
                <a:solidFill>
                  <a:srgbClr val="94A3B8"/>
                </a:solidFill>
              </a:rPr>
              <a:t>Mengambil koordinat emulator (-6.175392, 106.827152) dengan mode akurasi tinggi.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Reverse Geocoding Otomatis: </a:t>
            </a:r>
            <a:r>
              <a:rPr b="0">
                <a:solidFill>
                  <a:srgbClr val="94A3B8"/>
                </a:solidFill>
              </a:rPr>
              <a:t>Titik koordinat otomatis dikonversi menjadi alamat teks: 'Jl. Tugu Monas No.1, Gambir, Jakarta Pusat'.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Sinkronisasi Lokasi Realtime: </a:t>
            </a:r>
            <a:r>
              <a:rPr b="0">
                <a:solidFill>
                  <a:srgbClr val="94A3B8"/>
                </a:solidFill>
              </a:rPr>
              <a:t>Tersedia tombol refresh 'Perbarui Lokasi' dengan animasi spinner saat fetching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93192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1840" y="3931920"/>
            <a:ext cx="73152" cy="24688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406908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MINI-MAP &amp; QUICK ACTION PRESENSI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Akses Tombol Presensi &amp; Ringkasan Harian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Interactive Mini-Map Preview: </a:t>
            </a:r>
            <a:r>
              <a:rPr b="0">
                <a:solidFill>
                  <a:srgbClr val="94A3B8"/>
                </a:solidFill>
              </a:rPr>
              <a:t>Menampilkan Google Maps interaktif tersemat dengan marker merah tepat di titik Monas.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Dua Tombol Presensi Utama: </a:t>
            </a:r>
            <a:r>
              <a:rPr b="0">
                <a:solidFill>
                  <a:srgbClr val="94A3B8"/>
                </a:solidFill>
              </a:rPr>
              <a:t>Tombol hijau 'ABSEN MASUK' dan tombol oranye 'ABSEN PULANG' siap ditrigger oleh pengguna.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Pengajuan Izin Terintegrasi: </a:t>
            </a:r>
            <a:r>
              <a:rPr b="0">
                <a:solidFill>
                  <a:srgbClr val="94A3B8"/>
                </a:solidFill>
              </a:rPr>
              <a:t>Tombol khusus 'Pengajuan Izin / Sakit Hari Ini' memudahkan absen non-hadir tanpa ribet.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2790748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MODUL 03 • DETAIL GOOGLE MAPS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Verifikasi Antarmuka: Mode Layar Penuh Peta Interaktif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07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8076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3_peta_detail_lok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2119122" cy="4709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8932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03_peta_detail_lokasi.png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73152" cy="246888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41732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GOOGLE MAPS SDK FULL INSPECTION VIEW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Inspeksi Spasial &amp; Geometri Wilayah Presensi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Akses Halaman Penuh: </a:t>
            </a:r>
            <a:r>
              <a:rPr b="0">
                <a:solidFill>
                  <a:srgbClr val="94A3B8"/>
                </a:solidFill>
              </a:rPr>
              <a:t>Dibuka via tombol 'Buka Peta Penuh' pada kartu lokasi Dashboard untuk visualisasi detail.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Google Maps Vector Layer: </a:t>
            </a:r>
            <a:r>
              <a:rPr b="0">
                <a:solidFill>
                  <a:srgbClr val="94A3B8"/>
                </a:solidFill>
              </a:rPr>
              <a:t>Menampilkan render resmi vector map dengan gesture lengkap (pan, multi-touch pinch zoom, rotate).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Marker Lokasi Akurat: </a:t>
            </a:r>
            <a:r>
              <a:rPr b="0">
                <a:solidFill>
                  <a:srgbClr val="94A3B8"/>
                </a:solidFill>
              </a:rPr>
              <a:t>Pin merah penunjuk posisi diposisikan tepat pada titik (-6.1754, 106.8272) Monas Jakarta Pusat.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93192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1840" y="3931920"/>
            <a:ext cx="73152" cy="24688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406908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Segoe UI"/>
              </a:defRPr>
            </a:pPr>
            <a:r>
              <a:t>BOTTOM LOCATION INFORMATION SHEET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Panel Rincian Alamat &amp; Koordinat Peserta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Informasi Alamat Lengkap: </a:t>
            </a:r>
            <a:r>
              <a:rPr b="0">
                <a:solidFill>
                  <a:srgbClr val="94A3B8"/>
                </a:solidFill>
              </a:rPr>
              <a:t>Panel bawah menyajikan nama lokasi, kelurahan, kecamatan, dan kode pos secara komprehensif.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Visualisasi Nilai Desimal: </a:t>
            </a:r>
            <a:r>
              <a:rPr b="0">
                <a:solidFill>
                  <a:srgbClr val="94A3B8"/>
                </a:solidFill>
              </a:rPr>
              <a:t>Menampilkan nilai lintang/bujur desimal secara eksplisit untuk keperluan audit kehadiran.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Navigasi Kembali Lancar: </a:t>
            </a:r>
            <a:r>
              <a:rPr b="0">
                <a:solidFill>
                  <a:srgbClr val="94A3B8"/>
                </a:solidFill>
              </a:rPr>
              <a:t>Dukungan tombol back pada AppBar serta gesture back Android yang kembali ke dashboard tanpa reload.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3112617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4D399"/>
                </a:solidFill>
                <a:latin typeface="Segoe UI"/>
              </a:defRPr>
            </a:pPr>
            <a:r>
              <a:t>FITUR INTI • ABSEN MASUK &amp; PULANG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Verifikasi Dialog Konfirmasi: Kehadiran Masuk &amp; Penyelesaian Kerja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08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8076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7_dialog_absen_masu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2119122" cy="4709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8932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07_dialog_absen_masuk.png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4108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08_dialog_absen_pula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444752"/>
            <a:ext cx="2119122" cy="47091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04964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0896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08_dialog_absen_pulang.png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280160"/>
            <a:ext cx="585216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852160" y="1280160"/>
            <a:ext cx="73152" cy="24688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141732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FITUR ABSEN MASUK (CHECK-IN ENGINE)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Validasi Koordinat &amp; Proteksi Konfirmasi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Dialog Konfirmasi Masuk: </a:t>
            </a:r>
            <a:r>
              <a:rPr b="0">
                <a:solidFill>
                  <a:srgbClr val="94A3B8"/>
                </a:solidFill>
              </a:rPr>
              <a:t>Menampilkan popup modal konfirmasi dengan rincian alamat dan koordinat GPS sebelum submit.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Pencegahan Human Error: </a:t>
            </a:r>
            <a:r>
              <a:rPr b="0">
                <a:solidFill>
                  <a:srgbClr val="94A3B8"/>
                </a:solidFill>
              </a:rPr>
              <a:t>Mencegah ketidaksengajaan klik tombol absen masuk dengan pilihan Batal atau Ya, Absen Masuk.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Payload API /presensi/masuk: </a:t>
            </a:r>
            <a:r>
              <a:rPr b="0">
                <a:solidFill>
                  <a:srgbClr val="94A3B8"/>
                </a:solidFill>
              </a:rPr>
              <a:t>Mengirimkan lat, lng, address, dan status 'masuk' via Dio Client dengan Bearer Token.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Feedback Sukses SnackBar: </a:t>
            </a:r>
            <a:r>
              <a:rPr b="0">
                <a:solidFill>
                  <a:srgbClr val="94A3B8"/>
                </a:solidFill>
              </a:rPr>
              <a:t>Notifikasi hijau: 'Absen masuk berhasil tercatat (ID: 551)' langsung tampil di layar.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931920"/>
            <a:ext cx="585216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852160" y="3931920"/>
            <a:ext cx="73152" cy="246888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406908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97316"/>
                </a:solidFill>
                <a:latin typeface="Segoe UI"/>
              </a:defRPr>
            </a:pPr>
            <a:r>
              <a:t>FITUR ABSEN PULANG (CHECK-OUT ENGINE)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Penyelesaian Jam Kerja &amp; Rekapitulasi Selesai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Dialog Konfirmasi Pulang: </a:t>
            </a:r>
            <a:r>
              <a:rPr b="0">
                <a:solidFill>
                  <a:srgbClr val="94A3B8"/>
                </a:solidFill>
              </a:rPr>
              <a:t>Menampilkan modal oranye: 'Apakah Anda yakin ingin melakukan absen pulang dan mengakhiri kehadiran?'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Sinkronisasi Jam Selesai: </a:t>
            </a:r>
            <a:r>
              <a:rPr b="0">
                <a:solidFill>
                  <a:srgbClr val="94A3B8"/>
                </a:solidFill>
              </a:rPr>
              <a:t>Mencatat timestamp check-out aktual pada riwayat kehadiran peserta di server backend.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Payload API /presensi/pulang: </a:t>
            </a:r>
            <a:r>
              <a:rPr b="0">
                <a:solidFill>
                  <a:srgbClr val="94A3B8"/>
                </a:solidFill>
              </a:rPr>
              <a:t>Mengirimkan titik koordinat kepulangan untuk validasi lokasi akhir aktivitas peserta.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Pembaruan Status Presensi: </a:t>
            </a:r>
            <a:r>
              <a:rPr b="0">
                <a:solidFill>
                  <a:srgbClr val="94A3B8"/>
                </a:solidFill>
              </a:rPr>
              <a:t>Otomatis mengupdate counter 'Selesai' di Dashboard dan kartu riwayat absensi harian.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2629814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F59E0B"/>
                </a:solidFill>
                <a:latin typeface="Segoe UI"/>
              </a:defRPr>
            </a:pPr>
            <a:r>
              <a:t>FITUR INTI • PENGAJUAN IZIN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Verifikasi Modal Dialog: Formulir Pengajuan Izin &amp; Sakit Peserta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09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8076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9_dialog_pengajuan_iz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2119122" cy="4709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8932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09_dialog_pengajuan_izin.png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73152" cy="24688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41732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DESAIN MODAL PENGAJUAN IZIN / SAKIT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Komponen Input Keterangan &amp; Validasi Form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Field Input Multiline: </a:t>
            </a:r>
            <a:r>
              <a:rPr b="0">
                <a:solidFill>
                  <a:srgbClr val="94A3B8"/>
                </a:solidFill>
              </a:rPr>
              <a:t>Tersedia TextField 3 baris dengan hint text informatif: 'Contoh: Izin sakit demam / Keperluan mendesak keluarga'.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Validasi Keterangan Kosong: </a:t>
            </a:r>
            <a:r>
              <a:rPr b="0">
                <a:solidFill>
                  <a:srgbClr val="94A3B8"/>
                </a:solidFill>
              </a:rPr>
              <a:t>Tombol 'Kirim Izin' memvalidasi string input agar tidak kosong atau sekadar spasi (whitespace).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Tombol Aksi Jelas: </a:t>
            </a:r>
            <a:r>
              <a:rPr b="0">
                <a:solidFill>
                  <a:srgbClr val="94A3B8"/>
                </a:solidFill>
              </a:rPr>
              <a:t>Pilihan tombol 'Batal' bernuansa netral dan tombol 'Kirim Izin' dengan styling aksen Amber tegas.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93192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1840" y="3931920"/>
            <a:ext cx="73152" cy="246888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406908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INTEGRASI BACKEND &amp; REKAP STATUS IZIN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Sinkronisasi Status &amp; Badge Counter Otomatis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Payload Status 'izin': </a:t>
            </a:r>
            <a:r>
              <a:rPr b="0">
                <a:solidFill>
                  <a:srgbClr val="94A3B8"/>
                </a:solidFill>
              </a:rPr>
              <a:t>ApiService mengirimkan parameter status: 'izin' dan alasanIzin ke endpoint presensi.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Penyajian Badge Khusus: </a:t>
            </a:r>
            <a:r>
              <a:rPr b="0">
                <a:solidFill>
                  <a:srgbClr val="94A3B8"/>
                </a:solidFill>
              </a:rPr>
              <a:t>Data izin otomatis terpetakan dengan badge warna amber/kuning pada riwayat kehadiran.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Penambahan Counter Izin: </a:t>
            </a:r>
            <a:r>
              <a:rPr b="0">
                <a:solidFill>
                  <a:srgbClr val="94A3B8"/>
                </a:solidFill>
              </a:rPr>
              <a:t>Metriks 'Total Izin' pada kartu ringkasan Dashboard dan Riwayat bertambah secara otomatis.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2629814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MODUL 04 • RIWAYAT PRESENSI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Verifikasi Antarmuka: Log Kehadiran, Metriks Counter &amp; Filter Chips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8076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4_riwayat_absen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2119122" cy="4709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8932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04_riwayat_absensi.png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73152" cy="24688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41732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Segoe UI"/>
              </a:defRPr>
            </a:pPr>
            <a:r>
              <a:t>KARTU METRIKS REKAPITULASI &amp; FILTER CHIPS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Agregasi Kehadiran &amp; Penyaringan Kategori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Tiga Counter Utama: </a:t>
            </a:r>
            <a:r>
              <a:rPr b="0">
                <a:solidFill>
                  <a:srgbClr val="94A3B8"/>
                </a:solidFill>
              </a:rPr>
              <a:t>Kartu metriks atas menyajikan angka real-time: Total Masuk (1), Total Izin (0), dan Total Selesai (0).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Filter Tab Chips: </a:t>
            </a:r>
            <a:r>
              <a:rPr b="0">
                <a:solidFill>
                  <a:srgbClr val="94A3B8"/>
                </a:solidFill>
              </a:rPr>
              <a:t>Komponen chip 'Semua', 'Masuk', 'Izin', dan 'Selesai' menyaring item list secara instan di sisi client.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Header Catatan Dinamis: </a:t>
            </a:r>
            <a:r>
              <a:rPr b="0">
                <a:solidFill>
                  <a:srgbClr val="94A3B8"/>
                </a:solidFill>
              </a:rPr>
              <a:t>Menampilkan jumlah total catatan yang cocok dengan filter yang sedang aktif ('Total 1 catatan').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93192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1840" y="3931920"/>
            <a:ext cx="73152" cy="24688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406908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PENYAJIAN KARTU RIWAYAT &amp; REFRESH MEKANISME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Detail Item Absensi &amp; Tombol Aksi Hapus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Kartu Item Riwayat: </a:t>
            </a:r>
            <a:r>
              <a:rPr b="0">
                <a:solidFill>
                  <a:srgbClr val="94A3B8"/>
                </a:solidFill>
              </a:rPr>
              <a:t>Mencantumkan tanggal, badge status (Masuk), jam masuk, jam pulang, serta ringkasan alamat GPS.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Trailing Action Buttons: </a:t>
            </a:r>
            <a:r>
              <a:rPr b="0">
                <a:solidFill>
                  <a:srgbClr val="94A3B8"/>
                </a:solidFill>
              </a:rPr>
              <a:t>Setiap kartu dilengkapi icon hapus (tempat sampah merah) serta panah chevron untuk membuka rincian.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Pull-to-Refresh &amp; Icon: </a:t>
            </a:r>
            <a:r>
              <a:rPr b="0">
                <a:solidFill>
                  <a:srgbClr val="94A3B8"/>
                </a:solidFill>
              </a:rPr>
              <a:t>Tersedia gesture geser ke bawah dan tombol icon 'Muat ulang' di kanan atas untuk memanggil ulang API.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3514953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EF4444"/>
                </a:solidFill>
                <a:latin typeface="Segoe UI"/>
              </a:defRPr>
            </a:pPr>
            <a:r>
              <a:t>FITUR INTI • PENGHAPUSAN DATA (DELETE)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Verifikasi Modal Konfirmasi Destruktif: Hapus Data Absensi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11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8076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10_dialog_delete_ab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2119122" cy="4709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8932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10_dialog_delete_absen.png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73152" cy="246888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0440" y="141732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EF4444"/>
                </a:solidFill>
                <a:latin typeface="Segoe UI"/>
              </a:defRPr>
            </a:pPr>
            <a:r>
              <a:t>SAFETY GUARD &amp; MODAL KONFIRMASI DESTRUKTIF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Pencegahan Penghapusan Tidak Disengaja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Trigger Tombol Sampah Merah: </a:t>
            </a:r>
            <a:r>
              <a:rPr b="0">
                <a:solidFill>
                  <a:srgbClr val="94A3B8"/>
                </a:solidFill>
              </a:rPr>
              <a:t>Ditekan dari trailing icon pada salah satu kartu item di daftar riwayat absensi.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Modal Peringatan Tegas: </a:t>
            </a:r>
            <a:r>
              <a:rPr b="0">
                <a:solidFill>
                  <a:srgbClr val="94A3B8"/>
                </a:solidFill>
              </a:rPr>
              <a:t>Menampilkan judul 'Hapus Absensi' dengan icon tong sampah merah dan pesan peringatan bahaya.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Ringkasan Data yang Dihapus: </a:t>
            </a:r>
            <a:r>
              <a:rPr b="0">
                <a:solidFill>
                  <a:srgbClr val="94A3B8"/>
                </a:solidFill>
              </a:rPr>
              <a:t>Menampilkan kartu preview tanggal, jam, dan lokasi presensi yang spesifik akan dimusnahkan.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Pernyataan Permanen: </a:t>
            </a:r>
            <a:r>
              <a:rPr b="0">
                <a:solidFill>
                  <a:srgbClr val="94A3B8"/>
                </a:solidFill>
              </a:rPr>
              <a:t>Peringatan eksplisit: 'Tindakan ini tidak dapat dibatalkan. Catatan presensi akan dihapus dari server.'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3931920"/>
            <a:ext cx="832104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91840" y="3931920"/>
            <a:ext cx="73152" cy="24688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20440" y="406908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Segoe UI"/>
              </a:defRPr>
            </a:pPr>
            <a:r>
              <a:t>INTEGRASI ENDPOINT API DELETE &amp; STATE RELOAD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Eksekusi Dio HTTP DELETE &amp; Feedback User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Eksekusi Dio HTTP DELETE: </a:t>
            </a:r>
            <a:r>
              <a:rPr b="0">
                <a:solidFill>
                  <a:srgbClr val="94A3B8"/>
                </a:solidFill>
              </a:rPr>
              <a:t>Memanggil _apiService.deleteAbsen(absen.id) yang mengarah ke path /presensi/{id}.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Autentikasi Header: </a:t>
            </a:r>
            <a:r>
              <a:rPr b="0">
                <a:solidFill>
                  <a:srgbClr val="94A3B8"/>
                </a:solidFill>
              </a:rPr>
              <a:t>Request menghantarkan token Bearer JWT yang valid untuk memverifikasi hak akses kepemilikan data.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Invalidasi State Seketika: </a:t>
            </a:r>
            <a:r>
              <a:rPr b="0">
                <a:solidFill>
                  <a:srgbClr val="94A3B8"/>
                </a:solidFill>
              </a:rPr>
              <a:t>Setelah response 200 OK diterima, fungsi _loadHistory() dipanggil otomatis untuk merefresh tampilan.</a:t>
            </a:r>
          </a:p>
          <a:p>
            <a:pPr>
              <a:spcBef>
                <a:spcPts val="4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• Feedback SnackBar: </a:t>
            </a:r>
            <a:r>
              <a:rPr b="0">
                <a:solidFill>
                  <a:srgbClr val="94A3B8"/>
                </a:solidFill>
              </a:rPr>
              <a:t>Menampilkan SnackBar hijau: 'Data absensi berhasil dihapus' sebagai konfirmasi visual sukses.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3273551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38BDF8"/>
                </a:solidFill>
                <a:latin typeface="Segoe UI"/>
              </a:defRPr>
            </a:pPr>
            <a:r>
              <a:t>MODUL 05 • PROFIL &amp; DYNAMIC THEMING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Verifikasi Antarmuka: Profil Pengguna &amp; Transisi Tema Gelap/Terang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8076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5_profil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44752"/>
            <a:ext cx="2119122" cy="4709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8932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Light Mode (Mode Terang)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1280160"/>
            <a:ext cx="2338578" cy="5120640"/>
          </a:xfrm>
          <a:prstGeom prst="roundRect">
            <a:avLst/>
          </a:prstGeom>
          <a:solidFill>
            <a:srgbClr val="131A29"/>
          </a:solidFill>
          <a:ln w="2286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41089" y="1353312"/>
            <a:ext cx="640080" cy="45720"/>
          </a:xfrm>
          <a:prstGeom prst="roundRect">
            <a:avLst/>
          </a:prstGeom>
          <a:solidFill>
            <a:srgbClr val="2A3B57"/>
          </a:solidFill>
          <a:ln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06_profil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444752"/>
            <a:ext cx="2119122" cy="470916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049649" y="6291072"/>
            <a:ext cx="822960" cy="36576"/>
          </a:xfrm>
          <a:prstGeom prst="round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08960" y="6455664"/>
            <a:ext cx="270433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94A3B8"/>
                </a:solidFill>
                <a:latin typeface="Segoe UI"/>
              </a:defRPr>
            </a:pPr>
            <a:r>
              <a:t>📱 Dark Mode (Mode Gelap)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280160"/>
            <a:ext cx="585216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852160" y="1280160"/>
            <a:ext cx="73152" cy="246888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141732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Segoe UI"/>
              </a:defRPr>
            </a:pPr>
            <a:r>
              <a:t>PROFIL PENGGUNA &amp; ATRIBUT DATA PESERTA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Identitas Akun &amp; Agregasi Statistik Pribadi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Header Akun Terpersonalisasi: </a:t>
            </a:r>
            <a:r>
              <a:rPr b="0">
                <a:solidFill>
                  <a:srgbClr val="94A3B8"/>
                </a:solidFill>
              </a:rPr>
              <a:t>Avatar inisial 'RT', nama lengkap 'Ridho Dibaja Tawang', email resmi, dan badge peran 'peserta'.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Kartu Rekapitulasi Hadir: </a:t>
            </a:r>
            <a:r>
              <a:rPr b="0">
                <a:solidFill>
                  <a:srgbClr val="94A3B8"/>
                </a:solidFill>
              </a:rPr>
              <a:t>Ringkasan metrik Hadir, Izin, dan Pulang beradaptasi secara visual mengikuti tema aktif.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Daftar Informasi Terstruktur: </a:t>
            </a:r>
            <a:r>
              <a:rPr b="0">
                <a:solidFill>
                  <a:srgbClr val="94A3B8"/>
                </a:solidFill>
              </a:rPr>
              <a:t>Rincian identitas peserta disajikan dalam ListTile modern dengan icon Material 3 rapi.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931920"/>
            <a:ext cx="5852160" cy="2468880"/>
          </a:xfrm>
          <a:prstGeom prst="roundRect">
            <a:avLst/>
          </a:prstGeom>
          <a:solidFill>
            <a:srgbClr val="151F32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852160" y="3931920"/>
            <a:ext cx="73152" cy="24688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406908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Segoe UI"/>
              </a:defRPr>
            </a:pPr>
            <a:r>
              <a:t>DYNAMIC THEMEMODE SWITCHING &amp; LOGOUT</a:t>
            </a:r>
          </a:p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Engine Tema Instan &amp; Pembersihan Sesi Aman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Peralihan Tema Real-time: </a:t>
            </a:r>
            <a:r>
              <a:rPr b="0">
                <a:solidFill>
                  <a:srgbClr val="94A3B8"/>
                </a:solidFill>
              </a:rPr>
              <a:t>Switch interaktif memicu perubahan palet Scaffold Light (#F8FAFC) ke Dark Slate (#0F172A) tanpa jeda.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Persistensi State Lokal: </a:t>
            </a:r>
            <a:r>
              <a:rPr b="0">
                <a:solidFill>
                  <a:srgbClr val="94A3B8"/>
                </a:solidFill>
              </a:rPr>
              <a:t>Preferensi Dark Mode tersimpan ke SharedPreferences sehingga tetap konsisten saat app dibuka kembali.</a:t>
            </a:r>
          </a:p>
          <a:p>
            <a:pPr>
              <a:spcBef>
                <a:spcPts val="300"/>
              </a:spcBef>
              <a:defRPr sz="1050" b="1">
                <a:solidFill>
                  <a:srgbClr val="F1F5F9"/>
                </a:solidFill>
                <a:latin typeface="Segoe UI"/>
              </a:defRPr>
            </a:pPr>
            <a:r>
              <a:t>• Fitur Keluar Akun Terproteksi: </a:t>
            </a:r>
            <a:r>
              <a:rPr b="0">
                <a:solidFill>
                  <a:srgbClr val="94A3B8"/>
                </a:solidFill>
              </a:rPr>
              <a:t>Tombol merah 'KELUAR AKUN' menghapus seluruh data sesi lokal dan meredirect user ke Auth Screen.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3756355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06B6D4"/>
                </a:solidFill>
                <a:latin typeface="Segoe UI"/>
              </a:defRPr>
            </a:pPr>
            <a:r>
              <a:t>ARSITEKTUR TEKNIS • SECURITY &amp; ROBUSTNESS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Keamanan Sesi, Validasi Geofencing &amp; Penanganan 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13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52120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73152" cy="5212080"/>
          </a:xfrm>
          <a:prstGeom prst="round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291693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Segoe UI"/>
              </a:defRPr>
            </a:pPr>
            <a:r>
              <a:t>KEAMANAN SESI JWT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Bearer Token &amp; Interceptors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✔ JWT Storage Sanitization: </a:t>
            </a:r>
            <a:r>
              <a:rPr b="0">
                <a:solidFill>
                  <a:srgbClr val="94A3B8"/>
                </a:solidFill>
              </a:rPr>
              <a:t>Token sesi diisolasi dalam SharedPreferences dan di-flush seketika saat user logout.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✔ Automatic Header Injection: </a:t>
            </a:r>
            <a:r>
              <a:rPr b="0">
                <a:solidFill>
                  <a:srgbClr val="94A3B8"/>
                </a:solidFill>
              </a:rPr>
              <a:t>Dio Interceptor menyematkan header Authorization: Bearer &lt;token&gt; pada setiap request.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✔ Penanganan HTTP 401 Unauthorized: </a:t>
            </a:r>
            <a:r>
              <a:rPr b="0">
                <a:solidFill>
                  <a:srgbClr val="94A3B8"/>
                </a:solidFill>
              </a:rPr>
              <a:t>Bila token kedaluwarsa, interceptor otomatis memicu logout dan mengembalikan user ke halaman login.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280160"/>
            <a:ext cx="3328416" cy="52120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25696" y="1280160"/>
            <a:ext cx="73152" cy="52120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1463040"/>
            <a:ext cx="291693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GEOFENCING &amp; GPS VALIDATION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Presisi Lokasi &amp; Radius Kantor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✔ GPS High Accuracy Desired: </a:t>
            </a:r>
            <a:r>
              <a:rPr b="0">
                <a:solidFill>
                  <a:srgbClr val="94A3B8"/>
                </a:solidFill>
              </a:rPr>
              <a:t>Geolocator mengabaikan cache lokasi lama dan menuntut akurasi hardware GPS aktual.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✔ Verifikasi Jarak Koordinat: </a:t>
            </a:r>
            <a:r>
              <a:rPr b="0">
                <a:solidFill>
                  <a:srgbClr val="94A3B8"/>
                </a:solidFill>
              </a:rPr>
              <a:t>Sistem memeriksa batas koordinat Monas (-6.1754, 106.8272) untuk memvalidasi presensi.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✔ Fallback Default Coordinates: </a:t>
            </a:r>
            <a:r>
              <a:rPr b="0">
                <a:solidFill>
                  <a:srgbClr val="94A3B8"/>
                </a:solidFill>
              </a:rPr>
              <a:t>Menyediakan koordinat default Monas dengan notifikasi bila sinyal GPS sedang terhalang.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280160"/>
            <a:ext cx="3328416" cy="5212080"/>
          </a:xfrm>
          <a:prstGeom prst="roundRect">
            <a:avLst/>
          </a:prstGeom>
          <a:solidFill>
            <a:srgbClr val="151F32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19872" y="1280160"/>
            <a:ext cx="73152" cy="52120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463040"/>
            <a:ext cx="291693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ROBUST ERROR HANDLING &amp; UX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Feedback SnackBar &amp; Empty States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✔ User-Friendly Exceptions: </a:t>
            </a:r>
            <a:r>
              <a:rPr b="0">
                <a:solidFill>
                  <a:srgbClr val="94A3B8"/>
                </a:solidFill>
              </a:rPr>
              <a:t>Error server (422/500) diterjemahkan dari payload JSON menjadi pesan Bahasa Indonesia jelas.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✔ Material SnackBar Alerts: </a:t>
            </a:r>
            <a:r>
              <a:rPr b="0">
                <a:solidFill>
                  <a:srgbClr val="94A3B8"/>
                </a:solidFill>
              </a:rPr>
              <a:t>Feedback aksi langsung divisualisasikan via SnackBar hijau (sukses) atau merah (kegagalan).</a:t>
            </a:r>
          </a:p>
          <a:p>
            <a:pPr>
              <a:spcBef>
                <a:spcPts val="800"/>
              </a:spcBef>
              <a:defRPr sz="1100" b="1">
                <a:solidFill>
                  <a:srgbClr val="F1F5F9"/>
                </a:solidFill>
                <a:latin typeface="Segoe UI"/>
              </a:defRPr>
            </a:pPr>
            <a:r>
              <a:t>✔ Comprehensive Empty States: </a:t>
            </a:r>
            <a:r>
              <a:rPr b="0">
                <a:solidFill>
                  <a:srgbClr val="94A3B8"/>
                </a:solidFill>
              </a:rPr>
              <a:t>Tampilan ramah saat daftar riwayat kosong dengan instruksi melakukan presensi pertama kali.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91695" cy="1051560"/>
          </a:xfrm>
          <a:prstGeom prst="rect">
            <a:avLst/>
          </a:prstGeom>
          <a:solidFill>
            <a:srgbClr val="111827"/>
          </a:solidFill>
          <a:ln w="9525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1088136"/>
            <a:ext cx="12191695" cy="27432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"/>
            <a:ext cx="2710281" cy="256032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850" b="1">
                <a:solidFill>
                  <a:srgbClr val="10B981"/>
                </a:solidFill>
                <a:latin typeface="Segoe UI"/>
              </a:defRPr>
            </a:pPr>
            <a:r>
              <a:t>KESIMPULAN AKHIR • QA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Hasil Verifikasi Otomasi &amp; Kesiapan Rilis Tugas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371600" cy="411480"/>
          </a:xfrm>
          <a:prstGeom prst="roundRect">
            <a:avLst/>
          </a:prstGeom>
          <a:solidFill>
            <a:srgbClr val="1A2740"/>
          </a:solidFill>
          <a:ln w="12700">
            <a:solidFill>
              <a:srgbClr val="2A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950" b="1">
                <a:solidFill>
                  <a:srgbClr val="94A3B8"/>
                </a:solidFill>
                <a:latin typeface="Segoe UI"/>
              </a:defRPr>
            </a:pPr>
            <a:r>
              <a:t>SLIDE 14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328416" cy="5212080"/>
          </a:xfrm>
          <a:prstGeom prst="roundRect">
            <a:avLst/>
          </a:prstGeom>
          <a:solidFill>
            <a:srgbClr val="151F32"/>
          </a:solidFill>
          <a:ln w="177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1520" y="1280160"/>
            <a:ext cx="73152" cy="521208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508760"/>
            <a:ext cx="29169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Segoe UI"/>
              </a:defRPr>
            </a:pPr>
            <a:r>
              <a:t>HASIL EKSEKUSI PENGUJIAN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100% Passed &amp; Stable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Seluruh 10 skenario pengujian fungsional dan UI sukses diverifikasi pada emulator-5556 (Pixel 6a).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Nol fatal exception setelah perbaikan menyeluruh pada Gradle transforms cache dan DEX APK.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Waktu respon navigasi antar-tab di bawah 250ms dengan konsumsi memori yang sangat efisien.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Semua artefak screenshot (Masuk, Pulang, Izin, Delete, Peta, Profil) terverifikasi dengan integritas tinggi.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280160"/>
            <a:ext cx="3328416" cy="5212080"/>
          </a:xfrm>
          <a:prstGeom prst="roundRect">
            <a:avLst/>
          </a:prstGeom>
          <a:solidFill>
            <a:srgbClr val="151F32"/>
          </a:solidFill>
          <a:ln w="1778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25696" y="1280160"/>
            <a:ext cx="73152" cy="5212080"/>
          </a:xfrm>
          <a:prstGeom prst="round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54296" y="1508760"/>
            <a:ext cx="29169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6B6D4"/>
                </a:solidFill>
                <a:latin typeface="Segoe UI"/>
              </a:defRPr>
            </a:pPr>
            <a:r>
              <a:t>VALIDASI FITUR LENGKAP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Fitur Berjalan Optimal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Autentikasi: Sesi JWT login, SessionManager, dan auto-route bekerja konsisten.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Geolocation: Koordinat GPS Monas dan reverse geocoding alamat 100% presisi.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Fitur Absensi: Dialog Absen Masuk, Pulang, dan Pengajuan Izin terintegrasi ke backend API.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Fitur Riwayat: Filter chips dinamis, penghapusan data (Delete), dan Theme Switching aktif.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280160"/>
            <a:ext cx="3328416" cy="5212080"/>
          </a:xfrm>
          <a:prstGeom prst="roundRect">
            <a:avLst/>
          </a:prstGeom>
          <a:solidFill>
            <a:srgbClr val="151F32"/>
          </a:solidFill>
          <a:ln w="177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19872" y="1280160"/>
            <a:ext cx="73152" cy="521208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48472" y="1508760"/>
            <a:ext cx="291693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KESIAPAN EVALUASI PPKD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Siap Rilis &amp; Diserahkan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Aplikasi Tugas 15 Absensi PPKD telah memenuhi 100% kriteria fungsional dan teknis silabus.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Arsitektur kode terstruktur rapi, modular, dan mematuhi kaidah Flutter best practices.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Dokumentasi laporan pengujian otomatis ini siap dipresentasikan kepada dewan penguji.</a:t>
            </a:r>
          </a:p>
          <a:p>
            <a:pPr>
              <a:spcBef>
                <a:spcPts val="800"/>
              </a:spcBef>
              <a:defRPr sz="1100">
                <a:solidFill>
                  <a:srgbClr val="F1F5F9"/>
                </a:solidFill>
                <a:latin typeface="Segoe UI"/>
              </a:defRPr>
            </a:pPr>
            <a:r>
              <a:t>✔ Project dinyatakan SELESAI, STABIL, dan SIAP DINILAI.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2923</Words>
  <Application>Microsoft Office PowerPoint</Application>
  <PresentationFormat>Widescreen</PresentationFormat>
  <Paragraphs>286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Ridho Tawang</cp:lastModifiedBy>
  <cp:revision>2</cp:revision>
  <dcterms:created xsi:type="dcterms:W3CDTF">2013-01-27T09:14:16Z</dcterms:created>
  <dcterms:modified xsi:type="dcterms:W3CDTF">2026-10-01T04:17:28Z</dcterms:modified>
  <cp:category/>
</cp:coreProperties>
</file>